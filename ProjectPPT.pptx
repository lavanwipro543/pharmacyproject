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D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20040" y="5166360"/>
            <a:ext cx="1325880" cy="13258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312664"/>
            <a:ext cx="1325880" cy="132588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5458968"/>
            <a:ext cx="1325880" cy="1325880"/>
          </a:xfrm>
          <a:prstGeom prst="ellipse">
            <a:avLst/>
          </a:prstGeom>
          <a:solidFill>
            <a:srgbClr val="E7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914400"/>
            <a:ext cx="1874519" cy="1005840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216152"/>
            <a:ext cx="79552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D2F59"/>
                </a:solidFill>
                <a:latin typeface="Calibri"/>
              </a:defRPr>
            </a:pPr>
            <a:r>
              <a:t>Online Pharmacy</a:t>
            </a:r>
            <a:br/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78892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46464"/>
                </a:solidFill>
                <a:latin typeface="Calibri"/>
              </a:defRPr>
            </a:pPr>
            <a:r>
              <a:t>Backend Microservices Architecture | API Gateway | JWT Security | Swagger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931920"/>
            <a:ext cx="2011680" cy="566928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931920"/>
            <a:ext cx="2011680" cy="566928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Microservices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2011680" cy="566928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JWT +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800600"/>
            <a:ext cx="4114800" cy="566928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Backend-Only Capstone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Project context, problem statement and objective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Backend microservices architecture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Microservices responsibilities and database ownership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JWT authentication and role-based authorization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Prescription approval and medicine ordering workflow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Inventory, cart, order and notification workflows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Swagger/API Gateway testing strategy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Calibri"/>
              </a:defRPr>
            </a:pPr>
            <a:r>
              <a:t>Validation, exception handling and future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325880"/>
            <a:ext cx="2743200" cy="749808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  <a:br/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2377439"/>
            <a:ext cx="2743200" cy="749808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  <a:br/>
            <a:r>
              <a:t>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3429000"/>
            <a:ext cx="2743200" cy="749808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  <a:br/>
            <a:r>
              <a:t>Business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480559"/>
            <a:ext cx="2743200" cy="749808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  <a:br/>
            <a:r>
              <a:t>Testing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Problem Statement &amp; Project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2834640" cy="530352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901952"/>
            <a:ext cx="5074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Manual pharmacy operations make medicine stock, prescriptions and orders difficult to track.</a:t>
            </a:r>
          </a:p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Prescription medicines require controlled approval before customer purchase.</a:t>
            </a:r>
          </a:p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Privileged roles such as ADMIN and PHARMACIST must be protected from public registration.</a:t>
            </a:r>
          </a:p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A scalable and secure backend is required for reliable pharmacy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61872"/>
            <a:ext cx="2834640" cy="530352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01952"/>
            <a:ext cx="5074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Design a backend-only online pharmacy system using Spring Boot microservices.</a:t>
            </a:r>
          </a:p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Provide JWT-secured APIs through API Gateway.</a:t>
            </a:r>
          </a:p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Implement ADMIN, CUSTOMER and PHARMACIST role-based access.</a:t>
            </a:r>
          </a:p>
          <a:p>
            <a:pPr>
              <a:spcAft>
                <a:spcPts val="700"/>
              </a:spcAft>
              <a:defRPr sz="1480">
                <a:solidFill>
                  <a:srgbClr val="2D2D2D"/>
                </a:solidFill>
                <a:latin typeface="Calibri"/>
              </a:defRPr>
            </a:pPr>
            <a:r>
              <a:t>Enable full API testing through Swagger and Gateway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5257800"/>
            <a:ext cx="5669280" cy="530352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Outcome: Secure, modular, testable backend microservices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Backend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70432"/>
          <a:ext cx="51206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Java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Spring Boot 3.2.5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Spring Cloud 2023.0.2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Gateway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Spring Cloud Gateway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Netflix Eureka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Spring Cloud Config Server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Spring Security +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MySQL + Spring Data JPA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OpenFeign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Swagger / Springdoc OpenAPI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Maven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234440"/>
            <a:ext cx="4480560" cy="59436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this stack?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05740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40">
                <a:solidFill>
                  <a:srgbClr val="2D2D2D"/>
                </a:solidFill>
                <a:latin typeface="Calibri"/>
              </a:defRPr>
            </a:pPr>
            <a:r>
              <a:t>Spring Boot accelerates REST API development with production-ready features.</a:t>
            </a:r>
          </a:p>
          <a:p>
            <a:pPr>
              <a:spcAft>
                <a:spcPts val="700"/>
              </a:spcAft>
              <a:defRPr sz="1440">
                <a:solidFill>
                  <a:srgbClr val="2D2D2D"/>
                </a:solidFill>
                <a:latin typeface="Calibri"/>
              </a:defRPr>
            </a:pPr>
            <a:r>
              <a:t>Spring Cloud supports distributed service patterns such as Gateway, Config and Discovery.</a:t>
            </a:r>
          </a:p>
          <a:p>
            <a:pPr>
              <a:spcAft>
                <a:spcPts val="700"/>
              </a:spcAft>
              <a:defRPr sz="1440">
                <a:solidFill>
                  <a:srgbClr val="2D2D2D"/>
                </a:solidFill>
                <a:latin typeface="Calibri"/>
              </a:defRPr>
            </a:pPr>
            <a:r>
              <a:t>JWT keeps authentication stateless across microservices.</a:t>
            </a:r>
          </a:p>
          <a:p>
            <a:pPr>
              <a:spcAft>
                <a:spcPts val="700"/>
              </a:spcAft>
              <a:defRPr sz="1440">
                <a:solidFill>
                  <a:srgbClr val="2D2D2D"/>
                </a:solidFill>
                <a:latin typeface="Calibri"/>
              </a:defRPr>
            </a:pPr>
            <a:r>
              <a:t>Feign Client simplifies service-to-service REST communication.</a:t>
            </a:r>
          </a:p>
          <a:p>
            <a:pPr>
              <a:spcAft>
                <a:spcPts val="700"/>
              </a:spcAft>
              <a:defRPr sz="1440">
                <a:solidFill>
                  <a:srgbClr val="2D2D2D"/>
                </a:solidFill>
                <a:latin typeface="Calibri"/>
              </a:defRPr>
            </a:pPr>
            <a:r>
              <a:t>Swagger provides interactive API testing without a frontend dependency.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Backend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828800" cy="621792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Swagger / API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325880"/>
            <a:ext cx="1828800" cy="621792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  <a:br/>
            <a:r>
              <a:t>8080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713232"/>
            <a:ext cx="1874519" cy="530352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Eureka Server</a:t>
            </a:r>
            <a:br/>
            <a:r>
              <a:t>8761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444752"/>
            <a:ext cx="1874519" cy="530352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Config Server</a:t>
            </a:r>
            <a:br/>
            <a:r>
              <a:t>8888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1636776"/>
            <a:ext cx="45720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1636776"/>
            <a:ext cx="612648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2743200"/>
            <a:ext cx="1417320" cy="713232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  <a:br/>
            <a:r>
              <a:t>8081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743200"/>
            <a:ext cx="1417320" cy="713232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MEDICINE</a:t>
            </a:r>
            <a:br/>
            <a:r>
              <a:t>8082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743200"/>
            <a:ext cx="1417320" cy="713232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PRESCRIPTION</a:t>
            </a:r>
            <a:br/>
            <a:r>
              <a:t>8083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2743200"/>
            <a:ext cx="1417320" cy="713232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INVENTORY</a:t>
            </a:r>
            <a:br/>
            <a:r>
              <a:t>8084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4069080"/>
            <a:ext cx="1417320" cy="713232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CART</a:t>
            </a:r>
            <a:br/>
            <a:r>
              <a:t>8085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4069080"/>
            <a:ext cx="1417320" cy="713232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ORDER</a:t>
            </a:r>
            <a:br/>
            <a:r>
              <a:t>8087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4069080"/>
            <a:ext cx="1417320" cy="713232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NOTIFICATION</a:t>
            </a:r>
            <a:br/>
            <a:r>
              <a:t>8086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03320" y="1965960"/>
            <a:ext cx="0" cy="667512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52360" y="2926080"/>
            <a:ext cx="4160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2D2D2D"/>
                </a:solidFill>
                <a:latin typeface="Calibri"/>
              </a:defRPr>
            </a:pPr>
            <a:r>
              <a:t>API Gateway validates JWT, checks role access and routes requests.</a:t>
            </a:r>
          </a:p>
          <a:p>
            <a:pPr>
              <a:spcAft>
                <a:spcPts val="700"/>
              </a:spcAft>
              <a:defRPr sz="1320">
                <a:solidFill>
                  <a:srgbClr val="2D2D2D"/>
                </a:solidFill>
                <a:latin typeface="Calibri"/>
              </a:defRPr>
            </a:pPr>
            <a:r>
              <a:t>Eureka provides dynamic service registration and discovery.</a:t>
            </a:r>
          </a:p>
          <a:p>
            <a:pPr>
              <a:spcAft>
                <a:spcPts val="700"/>
              </a:spcAft>
              <a:defRPr sz="1320">
                <a:solidFill>
                  <a:srgbClr val="2D2D2D"/>
                </a:solidFill>
                <a:latin typeface="Calibri"/>
              </a:defRPr>
            </a:pPr>
            <a:r>
              <a:t>Each microservice owns its database and API contract.</a:t>
            </a:r>
          </a:p>
          <a:p>
            <a:pPr>
              <a:spcAft>
                <a:spcPts val="700"/>
              </a:spcAft>
              <a:defRPr sz="1320">
                <a:solidFill>
                  <a:srgbClr val="2D2D2D"/>
                </a:solidFill>
                <a:latin typeface="Calibri"/>
              </a:defRPr>
            </a:pPr>
            <a:r>
              <a:t>Feign clients enable controlled inter-service communication.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Microservices &amp; Responsibilities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1088136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1150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Microservice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AUTH-SERVICE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Registration, login, JWT generation, user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MEDICINE-SERVICE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Medicine CRUD, search, category filtering, prescription flag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PRESCRIPTION-SERVICE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Prescription upload, pending/approve/reject statuses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INVENTORY-SERVICE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Stock quantity, reorder level, stock update APIs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 add/update/remove/view and prescription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ORDER-SERVICE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Order placement, status update, cart clearing, stock reduction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NOTIFICATION-SERVICE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Order and status notification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Database Ownership by Microservice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Owning Service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Data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pharmacy_auth_db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AUTH-SERVICE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users,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pharmacy_medicine_db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MEDICINE-SERVICE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medicines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pharmacy_prescription_db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PRESCRIPTION-SERVICE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prescriptions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pharmacy_inventory_db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INVENTORY-SERVICE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inventory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pharmacy_cart_db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carts, cart_items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pharmacy_order_db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ORDER-SERVICE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orders, order_items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pharmacy_notification_db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NOTIFICATION-SERVICE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74519" y="5715000"/>
            <a:ext cx="8458200" cy="50292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Design Principle: Each service owns its data and communicates through APIs, not shared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Security Design: JWT Authentication + RBAC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1691640" cy="731520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  <a:br/>
            <a:r>
              <a:t>Login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1965960"/>
            <a:ext cx="521208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98648" y="1600200"/>
            <a:ext cx="1691640" cy="731520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  <a:br/>
            <a:r>
              <a:t>JWT Generated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90288" y="1965960"/>
            <a:ext cx="521208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02936" y="1600200"/>
            <a:ext cx="1691640" cy="73152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  <a:br/>
            <a:r>
              <a:t>Gateway Validates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94576" y="1965960"/>
            <a:ext cx="521207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07224" y="1600200"/>
            <a:ext cx="1691640" cy="731520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  <a:br/>
            <a:r>
              <a:t>Role Checked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98864" y="1965960"/>
            <a:ext cx="521208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11512" y="1600200"/>
            <a:ext cx="1691640" cy="73152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  <a:br/>
            <a:r>
              <a:t>Service Access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063240"/>
          <a:ext cx="10378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9220"/>
                <a:gridCol w="51892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Access Policy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Full access to all backend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View medicines, upload prescription, add allowed medicines to cart, place/view orders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PHARMACIST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Prescription review, approval and rejection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0120" y="5440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Privileged registration for ADMIN and PHARMACIST requires server-side secret key.</a:t>
            </a:r>
          </a:p>
          <a:p>
            <a:pPr>
              <a:spcAft>
                <a:spcPts val="7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Gateway filter validates token and checks path + HTTP method before forwarding.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Privileged Registration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926080" cy="658368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371600"/>
            <a:ext cx="2926080" cy="658368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2926080" cy="658368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PHARMACIST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Public registration allowed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 secret key required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Limited customer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Secret key required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Full system privileges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Protected from public misuse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402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Secret key required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Prescription review access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Controlled professional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4983480"/>
            <a:ext cx="7955279" cy="73152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Improvement: Unauthorized users cannot create privileged accounts without adminSecret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Prescription-Controlled Medicine Purchase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74519"/>
            <a:ext cx="1325880" cy="777240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80" b="1">
                <a:solidFill>
                  <a:srgbClr val="FFFFFF"/>
                </a:solidFill>
                <a:latin typeface="Calibri"/>
              </a:defRPr>
            </a:pPr>
            <a:r>
              <a:t>Medicine</a:t>
            </a:r>
            <a:br/>
            <a:r>
              <a:t>prescriptionRequired=true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2258568"/>
            <a:ext cx="27432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75688" y="1874519"/>
            <a:ext cx="1325880" cy="7772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80" b="1">
                <a:solidFill>
                  <a:srgbClr val="FFFFFF"/>
                </a:solidFill>
                <a:latin typeface="Calibri"/>
              </a:defRPr>
            </a:pPr>
            <a:r>
              <a:t>Customer Uploads</a:t>
            </a:r>
            <a:br/>
            <a:r>
              <a:t>Prescription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01568" y="2258568"/>
            <a:ext cx="274319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39896" y="1874519"/>
            <a:ext cx="1325880" cy="77724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80" b="1">
                <a:solidFill>
                  <a:srgbClr val="FFFFFF"/>
                </a:solidFill>
                <a:latin typeface="Calibri"/>
              </a:defRPr>
            </a:pPr>
            <a:r>
              <a:t>Status = PENDING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5776" y="2258568"/>
            <a:ext cx="27432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04104" y="1874519"/>
            <a:ext cx="1325880" cy="777240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80" b="1">
                <a:solidFill>
                  <a:srgbClr val="FFFFFF"/>
                </a:solidFill>
                <a:latin typeface="Calibri"/>
              </a:defRPr>
            </a:pPr>
            <a:r>
              <a:t>Pharmacist</a:t>
            </a:r>
            <a:br/>
            <a:r>
              <a:t>Approves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9984" y="2258568"/>
            <a:ext cx="27432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68312" y="1874519"/>
            <a:ext cx="1325880" cy="777240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80" b="1">
                <a:solidFill>
                  <a:srgbClr val="FFFFFF"/>
                </a:solidFill>
                <a:latin typeface="Calibri"/>
              </a:defRPr>
            </a:pPr>
            <a:r>
              <a:t>Status = APPROVED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94192" y="2258568"/>
            <a:ext cx="27432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19" y="1874519"/>
            <a:ext cx="1325880" cy="77724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80" b="1">
                <a:solidFill>
                  <a:srgbClr val="FFFFFF"/>
                </a:solidFill>
                <a:latin typeface="Calibri"/>
              </a:defRPr>
            </a:pPr>
            <a:r>
              <a:t>Add to Cart</a:t>
            </a:r>
            <a:br/>
            <a:r>
              <a:t>Allowed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58568"/>
            <a:ext cx="27432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396728" y="1874519"/>
            <a:ext cx="1325880" cy="777240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80" b="1">
                <a:solidFill>
                  <a:srgbClr val="FFFFFF"/>
                </a:solidFill>
                <a:latin typeface="Calibri"/>
              </a:defRPr>
            </a:pPr>
            <a:r>
              <a:t>Order</a:t>
            </a:r>
            <a:br/>
            <a:r>
              <a:t>Placed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94760"/>
            <a:ext cx="9692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OTC medicines can be added to cart directly.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Prescription-required medicines are blocked until an approved prescription exists.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Cart Service calls Prescription Service to verify APPROVED status.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This prevents ordering restricted medicines without pharmacist approval.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Cart, Inventory and Order Processing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325880" cy="749808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Customer</a:t>
            </a:r>
            <a:br/>
            <a:r>
              <a:t>Adds Cart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203704"/>
            <a:ext cx="484632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06039" y="1828800"/>
            <a:ext cx="1325880" cy="749808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Order Service</a:t>
            </a:r>
            <a:br/>
            <a:r>
              <a:t>Fetches Cart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203704"/>
            <a:ext cx="484632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59" y="1828800"/>
            <a:ext cx="1325880" cy="749808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Inventory</a:t>
            </a:r>
            <a:br/>
            <a:r>
              <a:t>Stock Check/Reduce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2203704"/>
            <a:ext cx="484631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79" y="1828800"/>
            <a:ext cx="1325880" cy="749808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Order</a:t>
            </a:r>
            <a:br/>
            <a:r>
              <a:t>Saved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59" y="2203704"/>
            <a:ext cx="484633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0" y="1828800"/>
            <a:ext cx="1325880" cy="749808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Cart</a:t>
            </a:r>
            <a:br/>
            <a:r>
              <a:t>Cleared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2203704"/>
            <a:ext cx="484632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4120" y="1828800"/>
            <a:ext cx="1325880" cy="749808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Notification</a:t>
            </a:r>
            <a:br/>
            <a:r>
              <a:t>Sent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0120" y="3703320"/>
          <a:ext cx="101498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Responsible Service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Stock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INVENTORY-SERVICE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availableQuantity decreases after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 clearing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CART-SERVICE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 is emptied after successful order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Order 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NOTIFICATION-SERVICE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customer receives order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Core API Endpoint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88645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Important Gateway APIs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 /auth-service/auth/register, POST /auth-service/auth/login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Medicine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POST/GET/PUT/DELETE /medicine-service/medicines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 upload, GET by status/customer, PUT approve/reject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Inventory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 inventory, GET stock, PUT increase/reduce-stock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 add, GET cart, PUT update, DELETE remove/clear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 place, GET all/customer, PUT status/cancel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POST send, GET customer/all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Swagger and API Gateway Testing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106984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Testing Mode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Gateway Swagger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http://localhost:8080/swagger-ui.html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Central view and secured Gateway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Individual Swagger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http://localhost:8081–8087/swagger-ui.html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Service-level debugging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Gateway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http://localhost:8080/&lt;service-name&gt;/...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Role-based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41605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JWT token is pasted using Swagger Authorize button as Bearer token.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Role testing must be done through API Gateway so the Gateway filter executes.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OpenApiConfig uses service gateway paths to avoid direct microservice port calls.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Validation and Exception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2926080" cy="594360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DTO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234440"/>
            <a:ext cx="2926080" cy="59436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Custom Exceptions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234440"/>
            <a:ext cx="2926080" cy="594360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Global 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Request DTOs isolate API input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Validation prevents invalid request data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Response DTOs avoid exposing 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Email already exists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Invalid admin secret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Medicine/order/cart not found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Prescription approval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0574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Structured error messages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Better Swagger debugging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Cleaner API behavior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Faculty-friendly demo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120640"/>
            <a:ext cx="8503920" cy="54864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Result: Clear validation errors instead of unclear 403/500 responses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Backend Run Order and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1. Start Config Server on port 8888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2. Start Eureka Server on port 8761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3. Start Auth, Medicine, Prescription, Inventory, Cart, Notification and Order services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4. Start API Gateway on port 8080 after service registration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5. Open Eureka dashboard and verify all services are UP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6. Open Gateway Swagger and test APIs through port 8080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371600"/>
            <a:ext cx="3931920" cy="64008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Important Backend URLs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24028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Eureka Dashboard: http://localhost:8761</a:t>
            </a:r>
          </a:p>
          <a:p>
            <a:pPr>
              <a:spcAft>
                <a:spcPts val="7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API Gateway: http://localhost:8080</a:t>
            </a:r>
          </a:p>
          <a:p>
            <a:pPr>
              <a:spcAft>
                <a:spcPts val="7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Gateway Swagger: http://localhost:8080/swagger-ui.html</a:t>
            </a:r>
          </a:p>
          <a:p>
            <a:pPr>
              <a:spcAft>
                <a:spcPts val="700"/>
              </a:spcAft>
              <a:defRPr sz="1350">
                <a:solidFill>
                  <a:srgbClr val="2D2D2D"/>
                </a:solidFill>
                <a:latin typeface="Calibri"/>
              </a:defRPr>
            </a:pPr>
            <a:r>
              <a:t>Role testing: Always use Gateway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Project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Implemented a complete backend microservices architecture for online pharmacy operations.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Centralized security enforcement using API Gateway and JWT validation.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Protected ADMIN and PHARMACIST registration using secret-key validation.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Integrated prescription approval with cart validation for restricted medicines.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Established medicine, inventory, cart, order and notification workflows.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Documented and tested APIs using Swagger UI and Gateway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417320"/>
            <a:ext cx="2560320" cy="658368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Secure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2404872"/>
            <a:ext cx="2560320" cy="658368"/>
          </a:xfrm>
          <a:prstGeom prst="roundRect">
            <a:avLst/>
          </a:prstGeom>
          <a:solidFill>
            <a:srgbClr val="59A0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3392424"/>
            <a:ext cx="2560320" cy="658368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4379976"/>
            <a:ext cx="2560320" cy="658368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Testable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D2F59"/>
                </a:solidFill>
                <a:latin typeface="Calibri"/>
              </a:defRPr>
            </a:pPr>
            <a:r>
              <a:t>Future Enhancements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88720"/>
          <a:ext cx="10561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Enhancement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D2F5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Payment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Enable online payment and transaction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Email/SMS Notification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Send real-time order and prescription updates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Docker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Simplify service packaging and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Centralized Logging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Improve debugging across microservices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Distributed Tracing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Track request flow between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Unit and Integration Tests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Improve backend reliability</a:t>
                      </a:r>
                    </a:p>
                  </a:txBody>
                  <a:tcPr>
                    <a:solidFill>
                      <a:srgbClr val="E7F1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68880" y="1371600"/>
            <a:ext cx="7223760" cy="960120"/>
          </a:xfrm>
          <a:prstGeom prst="roundRect">
            <a:avLst/>
          </a:prstGeom>
          <a:solidFill>
            <a:srgbClr val="0D2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Online Pharmacy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278892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D2D2D"/>
                </a:solidFill>
                <a:latin typeface="Calibri"/>
              </a:defRPr>
            </a:pPr>
            <a:r>
              <a:t>A secure, modular and API-tested backend microservices solution for pharmacy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4343400"/>
            <a:ext cx="347472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464"/>
                </a:solidFill>
                <a:latin typeface="Calibri"/>
              </a:defRPr>
            </a:pPr>
            <a:r>
              <a:t>Online Pharmacy Management System | Backend Microservices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
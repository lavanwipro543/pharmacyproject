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0F3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548640" y="5120640"/>
            <a:ext cx="1371600" cy="13716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19" y="5349240"/>
            <a:ext cx="1371600" cy="13716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577840"/>
            <a:ext cx="1371600" cy="1371600"/>
          </a:xfrm>
          <a:prstGeom prst="ellipse">
            <a:avLst/>
          </a:prstGeom>
          <a:solidFill>
            <a:srgbClr val="DD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914400"/>
            <a:ext cx="1600200" cy="100584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3660"/>
                </a:solidFill>
              </a:defRPr>
            </a:pPr>
            <a:r>
              <a:t>Online Pharmacy</a:t>
            </a:r>
            <a:br/>
            <a:r>
              <a:t>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788920"/>
            <a:ext cx="74980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Backend Microservices • API Gateway • JWT Security • Swagger Testing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886200"/>
            <a:ext cx="2057400" cy="59436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Spring Boot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3886200"/>
            <a:ext cx="2057400" cy="59436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Microservices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3886200"/>
            <a:ext cx="2057400" cy="59436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JWT + RBAC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Presentation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6583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Problem statement and project objective</a:t>
            </a:r>
          </a:p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Microservices architecture and module responsibilities</a:t>
            </a:r>
          </a:p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Authentication, JWT and role-based authorization</a:t>
            </a:r>
          </a:p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Core business workflow: medicine → inventory → cart → order → notification</a:t>
            </a:r>
          </a:p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Swagger/API Gateway testing strategy</a:t>
            </a:r>
          </a:p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Database separation, Feign communication and exception handling</a:t>
            </a:r>
          </a:p>
          <a:p>
            <a:pPr marL="342900">
              <a:spcAft>
                <a:spcPts val="800"/>
              </a:spcAft>
              <a:defRPr sz="1800">
                <a:solidFill>
                  <a:srgbClr val="2D2D2D"/>
                </a:solidFill>
              </a:defRPr>
            </a:pPr>
            <a:r>
              <a:t>Project outcomes and future enhancements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280160"/>
            <a:ext cx="2926080" cy="73152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01</a:t>
            </a:r>
            <a:br/>
            <a:r>
              <a:t>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331720"/>
            <a:ext cx="2926080" cy="73152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02</a:t>
            </a:r>
            <a:br/>
            <a:r>
              <a:t>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383279"/>
            <a:ext cx="2926080" cy="73152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03</a:t>
            </a:r>
            <a:br/>
            <a:r>
              <a:t>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4434840"/>
            <a:ext cx="2926080" cy="73152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04</a:t>
            </a:r>
            <a:br/>
            <a:r>
              <a:t>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Problem Statement &amp; 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3017520" cy="59436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550">
                <a:solidFill>
                  <a:srgbClr val="2D2D2D"/>
                </a:solidFill>
              </a:defRPr>
            </a:pPr>
            <a:r>
              <a:t>Manual pharmacy operations make stock tracking and order processing difficult.</a:t>
            </a:r>
          </a:p>
          <a:p>
            <a:pPr marL="342900">
              <a:spcAft>
                <a:spcPts val="800"/>
              </a:spcAft>
              <a:defRPr sz="1550">
                <a:solidFill>
                  <a:srgbClr val="2D2D2D"/>
                </a:solidFill>
              </a:defRPr>
            </a:pPr>
            <a:r>
              <a:t>Prescription-based medicines require pharmacist verification before fulfillment.</a:t>
            </a:r>
          </a:p>
          <a:p>
            <a:pPr marL="342900">
              <a:spcAft>
                <a:spcPts val="800"/>
              </a:spcAft>
              <a:defRPr sz="1550">
                <a:solidFill>
                  <a:srgbClr val="2D2D2D"/>
                </a:solidFill>
              </a:defRPr>
            </a:pPr>
            <a:r>
              <a:t>A secure backend is required for multiple users and controlled API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234440"/>
            <a:ext cx="3017520" cy="59436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96596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550">
                <a:solidFill>
                  <a:srgbClr val="2D2D2D"/>
                </a:solidFill>
              </a:defRPr>
            </a:pPr>
            <a:r>
              <a:t>Build a scalable backend-only online pharmacy system using microservices.</a:t>
            </a:r>
          </a:p>
          <a:p>
            <a:pPr marL="342900">
              <a:spcAft>
                <a:spcPts val="800"/>
              </a:spcAft>
              <a:defRPr sz="1550">
                <a:solidFill>
                  <a:srgbClr val="2D2D2D"/>
                </a:solidFill>
              </a:defRPr>
            </a:pPr>
            <a:r>
              <a:t>Provide JWT-secured APIs for ADMIN, CUSTOMER and PHARMACIST roles.</a:t>
            </a:r>
          </a:p>
          <a:p>
            <a:pPr marL="342900">
              <a:spcAft>
                <a:spcPts val="800"/>
              </a:spcAft>
              <a:defRPr sz="1550">
                <a:solidFill>
                  <a:srgbClr val="2D2D2D"/>
                </a:solidFill>
              </a:defRPr>
            </a:pPr>
            <a:r>
              <a:t>Enable Swagger-based API testing through individual services and API Gateway.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4983480"/>
            <a:ext cx="5120640" cy="640080"/>
          </a:xfrm>
          <a:prstGeom prst="roundRect">
            <a:avLst/>
          </a:prstGeom>
          <a:solidFill>
            <a:srgbClr val="0F36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Result: Secure, modular and testable backend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System Architecture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011680" cy="658368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Swagger / 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25880"/>
            <a:ext cx="2011680" cy="658368"/>
          </a:xfrm>
          <a:prstGeom prst="roundRect">
            <a:avLst/>
          </a:prstGeom>
          <a:solidFill>
            <a:srgbClr val="0F36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API Gateway</a:t>
            </a:r>
            <a:br/>
            <a:r>
              <a:t>8080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685800"/>
            <a:ext cx="2011680" cy="566928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Eureka Server</a:t>
            </a:r>
            <a:br/>
            <a:r>
              <a:t>8761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2120" y="1508760"/>
            <a:ext cx="2011680" cy="566928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Config Server</a:t>
            </a:r>
            <a:br/>
            <a:r>
              <a:t>8888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AUTH</a:t>
            </a:r>
            <a:br/>
            <a:r>
              <a:t>8081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743200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MEDICINE</a:t>
            </a:r>
            <a:br/>
            <a:r>
              <a:t>8082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743200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PRESCRIPTION</a:t>
            </a:r>
            <a:br/>
            <a:r>
              <a:t>8083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2743200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</a:t>
            </a:r>
            <a:br/>
            <a:r>
              <a:t>8084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977639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CART</a:t>
            </a:r>
            <a:br/>
            <a:r>
              <a:t>8085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977639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ORDER</a:t>
            </a:r>
            <a:br/>
            <a:r>
              <a:t>8087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77639"/>
            <a:ext cx="1783080" cy="749808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NOTIFICATION</a:t>
            </a:r>
            <a:br/>
            <a:r>
              <a:t>8086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0320" y="1645920"/>
            <a:ext cx="36576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37760" y="1645920"/>
            <a:ext cx="54864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31920" y="1965960"/>
            <a:ext cx="0" cy="73152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425196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250">
                <a:solidFill>
                  <a:srgbClr val="2D2D2D"/>
                </a:solidFill>
              </a:defRPr>
            </a:pPr>
            <a:r>
              <a:t>Gateway centralizes routing, JWT validation and role checks.</a:t>
            </a:r>
          </a:p>
          <a:p>
            <a:pPr marL="342900">
              <a:spcAft>
                <a:spcPts val="800"/>
              </a:spcAft>
              <a:defRPr sz="1250">
                <a:solidFill>
                  <a:srgbClr val="2D2D2D"/>
                </a:solidFill>
              </a:defRPr>
            </a:pPr>
            <a:r>
              <a:t>Services communicate using REST and Feign clients.</a:t>
            </a:r>
          </a:p>
          <a:p>
            <a:pPr marL="342900">
              <a:spcAft>
                <a:spcPts val="800"/>
              </a:spcAft>
              <a:defRPr sz="1250">
                <a:solidFill>
                  <a:srgbClr val="2D2D2D"/>
                </a:solidFill>
              </a:defRPr>
            </a:pPr>
            <a:r>
              <a:t>Each service owns its database and API contract.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Microservice Responsibilities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6007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Responsibility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AUTH-SERVICE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Registration, login, JWT generation, roles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MEDICINE-SERVICE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Medicine CRUD, category search, prescription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PRESCRIPTION-SERVICE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Upload, approve and reject prescriptions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INVENTORY-SERVICE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Stock quantity, reorder level, low-stock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CART-SERVICE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Add, update, remove and view customer cart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ORDER-SERVICE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Place order, reduce stock, clear cart, update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NOTIFICATION-SERVICE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Store and retrieve customer notifications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Security Design: JWT + Role-Based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2286000" cy="54864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Login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143000"/>
            <a:ext cx="2286000" cy="54864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JWT Issued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43000"/>
            <a:ext cx="2286000" cy="54864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Gateway Filter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143000"/>
            <a:ext cx="2286000" cy="548640"/>
          </a:xfrm>
          <a:prstGeom prst="roundRect">
            <a:avLst/>
          </a:prstGeom>
          <a:solidFill>
            <a:srgbClr val="0F36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Service Access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417320"/>
            <a:ext cx="41148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1417320"/>
            <a:ext cx="41148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03920" y="1417320"/>
            <a:ext cx="41148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240280"/>
          <a:ext cx="104241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Allowed Actions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2D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2D"/>
                          </a:solidFill>
                        </a:defRPr>
                      </a:pPr>
                      <a:r>
                        <a:t>Full access to all APIs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2D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2D"/>
                          </a:solidFill>
                        </a:defRPr>
                      </a:pPr>
                      <a:r>
                        <a:t>View medicines, post cart/order/prescription, view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2D"/>
                          </a:solidFill>
                        </a:defRPr>
                      </a:pPr>
                      <a:r>
                        <a:t>PHARMACIST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2D"/>
                          </a:solidFill>
                        </a:defRPr>
                      </a:pPr>
                      <a:r>
                        <a:t>Prescription APIs only as per gateway filter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4400" y="45720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400">
                <a:solidFill>
                  <a:srgbClr val="2D2D2D"/>
                </a:solidFill>
              </a:defRPr>
            </a:pPr>
            <a:r>
              <a:t>All secured requests include Authorization: Bearer &lt;token&gt;.</a:t>
            </a:r>
          </a:p>
          <a:p>
            <a:pPr marL="342900">
              <a:spcAft>
                <a:spcPts val="800"/>
              </a:spcAft>
              <a:defRPr sz="1400">
                <a:solidFill>
                  <a:srgbClr val="2D2D2D"/>
                </a:solidFill>
              </a:defRPr>
            </a:pPr>
            <a:r>
              <a:t>Gateway extracts role claim and validates access using path + HTTP method.</a:t>
            </a:r>
          </a:p>
          <a:p>
            <a:pPr marL="342900">
              <a:spcAft>
                <a:spcPts val="800"/>
              </a:spcAft>
              <a:defRPr sz="1400">
                <a:solidFill>
                  <a:srgbClr val="2D2D2D"/>
                </a:solidFill>
              </a:defRPr>
            </a:pPr>
            <a:r>
              <a:t>Direct service calls are avoided for role validation; Gateway must be 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End-to-End Business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417320" cy="86868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1</a:t>
            </a:r>
            <a:br/>
            <a:r>
              <a:t>Admin adds</a:t>
            </a:r>
            <a:br/>
            <a:r>
              <a:t>medicine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20240" y="2404872"/>
            <a:ext cx="457199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23160" y="1965960"/>
            <a:ext cx="141732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2</a:t>
            </a:r>
            <a:br/>
            <a:r>
              <a:t>Inventory stock</a:t>
            </a:r>
            <a:br/>
            <a:r>
              <a:t>created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2404872"/>
            <a:ext cx="45720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965960"/>
            <a:ext cx="141732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3</a:t>
            </a:r>
            <a:br/>
            <a:r>
              <a:t>Customer adds</a:t>
            </a:r>
            <a:br/>
            <a:r>
              <a:t>to cart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720" y="2404872"/>
            <a:ext cx="45720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63640" y="1965960"/>
            <a:ext cx="141732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4</a:t>
            </a:r>
            <a:br/>
            <a:r>
              <a:t>Customer places</a:t>
            </a:r>
            <a:br/>
            <a:r>
              <a:t>order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2404872"/>
            <a:ext cx="45720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83880" y="1965960"/>
            <a:ext cx="1417320" cy="86868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5</a:t>
            </a:r>
            <a:br/>
            <a:r>
              <a:t>Inventory</a:t>
            </a:r>
            <a:br/>
            <a:r>
              <a:t>reduced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01200" y="2404872"/>
            <a:ext cx="45720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104120" y="1965960"/>
            <a:ext cx="1417320" cy="868680"/>
          </a:xfrm>
          <a:prstGeom prst="roundRect">
            <a:avLst/>
          </a:prstGeom>
          <a:solidFill>
            <a:srgbClr val="0F36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6</a:t>
            </a:r>
            <a:br/>
            <a:r>
              <a:t>Cart cleared &amp;</a:t>
            </a:r>
            <a:br/>
            <a:r>
              <a:t>notification 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Prescription medicines require an uploaded prescription before fulfillment.</a:t>
            </a:r>
          </a:p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Order Service coordinates Cart, Inventory and Notification services.</a:t>
            </a:r>
          </a:p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Inventory quantity is reduced only after successful order placement.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API Testing Strategy with Swagger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34440"/>
          <a:ext cx="10881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8293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Testing Mode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URL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Gateway Swagger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http://localhost:8080/swagger-ui.html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Central view of service APIs through Gateway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Direct Swagger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http://localhost:8081-8087/swagger-ui.html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Individual service debugging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Gateway API URL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http://localhost:8080/&lt;service-name&gt;/...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Role-based validation and real flow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06908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500">
                <a:solidFill>
                  <a:srgbClr val="2D2D2D"/>
                </a:solidFill>
              </a:defRPr>
            </a:pPr>
            <a:r>
              <a:t>OpenApiConfig uses @Server(url = '/service-name') so Swagger calls Gateway paths.</a:t>
            </a:r>
          </a:p>
          <a:p>
            <a:pPr marL="342900">
              <a:spcAft>
                <a:spcPts val="800"/>
              </a:spcAft>
              <a:defRPr sz="1500">
                <a:solidFill>
                  <a:srgbClr val="2D2D2D"/>
                </a:solidFill>
              </a:defRPr>
            </a:pPr>
            <a:r>
              <a:t>JWT token is added using the Authorize button in Swagger.</a:t>
            </a:r>
          </a:p>
          <a:p>
            <a:pPr marL="342900">
              <a:spcAft>
                <a:spcPts val="800"/>
              </a:spcAft>
              <a:defRPr sz="1500">
                <a:solidFill>
                  <a:srgbClr val="2D2D2D"/>
                </a:solidFill>
              </a:defRPr>
            </a:pPr>
            <a:r>
              <a:t>Role testing must use Gateway URLs to trigger the JWT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Key API Endpoints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4300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Important APIs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/auth-service/auth/register, POST /auth-service/auth/login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Medicine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POST/GET/PUT/DELETE /medicine-service/medicines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Prescription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/prescription-service/prescriptions, PUT approve/reject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/inventory-service/inventory, PUT increase/reduce-stock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/cart-service/cart/add, GET /cart-service/cart/{customerId}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/order-service/orders, GET customer orders, update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GET /notification-service/notifications/customer/{customerId}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Database &amp; Data Separation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7442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/>
                <a:gridCol w="3581400"/>
                <a:gridCol w="3581400"/>
              </a:tblGrid>
              <a:tr h="542925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Main Tables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auth_db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User credentials and roles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medicine_db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medicines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Medicine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prescription_db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prescriptions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Prescription status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inventory_db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Medicine stock and reorder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cart_db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carts, cart_items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 cart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order_db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orders, 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Order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notification_db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notifications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 messages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Inter-Service Communication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194560" cy="68580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Cart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463040"/>
            <a:ext cx="2194560" cy="68580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Medicine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2194560" cy="685800"/>
          </a:xfrm>
          <a:prstGeom prst="roundRect">
            <a:avLst/>
          </a:prstGeom>
          <a:solidFill>
            <a:srgbClr val="0F36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Order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651760"/>
            <a:ext cx="2194560" cy="68580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Inventory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651760"/>
            <a:ext cx="2194560" cy="68580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Notification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3931920"/>
            <a:ext cx="2194560" cy="68580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Cart Service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1810512"/>
            <a:ext cx="91440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926080" y="2999232"/>
            <a:ext cx="914400" cy="45720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35040" y="2999232"/>
            <a:ext cx="91440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26080" y="3456432"/>
            <a:ext cx="914400" cy="82296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0" y="4343400"/>
            <a:ext cx="4023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300">
                <a:solidFill>
                  <a:srgbClr val="2D2D2D"/>
                </a:solidFill>
              </a:defRPr>
            </a:pPr>
            <a:r>
              <a:t>Cart Service validates medicine information through Medicine Service.</a:t>
            </a:r>
          </a:p>
          <a:p>
            <a:pPr marL="342900">
              <a:spcAft>
                <a:spcPts val="800"/>
              </a:spcAft>
              <a:defRPr sz="1300">
                <a:solidFill>
                  <a:srgbClr val="2D2D2D"/>
                </a:solidFill>
              </a:defRPr>
            </a:pPr>
            <a:r>
              <a:t>Order Service calls Cart, Inventory and Notification services.</a:t>
            </a:r>
          </a:p>
          <a:p>
            <a:pPr marL="342900">
              <a:spcAft>
                <a:spcPts val="800"/>
              </a:spcAft>
              <a:defRPr sz="1300">
                <a:solidFill>
                  <a:srgbClr val="2D2D2D"/>
                </a:solidFill>
              </a:defRPr>
            </a:pPr>
            <a:r>
              <a:t>Feign clients keep communication clean and service-name based.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Validation and Exception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Request DTOs validate inputs using annotations such as @NotBlank, @NotNull, @Min and @Email.</a:t>
            </a:r>
          </a:p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GlobalExceptionHandler returns structured errors for validation and service-specific exceptions.</a:t>
            </a:r>
          </a:p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Custom exceptions include MedicineNotFoundException, PrescriptionNotFoundException, CartNotFoundException, OrderNotFoundException and InsufficientStockException.</a:t>
            </a:r>
          </a:p>
          <a:p>
            <a:pPr marL="342900">
              <a:spcAft>
                <a:spcPts val="800"/>
              </a:spcAft>
              <a:defRPr sz="1600">
                <a:solidFill>
                  <a:srgbClr val="2D2D2D"/>
                </a:solidFill>
              </a:defRPr>
            </a:pPr>
            <a:r>
              <a:t>This improves API consistency and reduces unclear backend failures during Swagger testing.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800600"/>
            <a:ext cx="2194560" cy="59436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4800600"/>
            <a:ext cx="2194560" cy="59436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Exceptions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4800600"/>
            <a:ext cx="2194560" cy="59436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Clean API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Role-Based Validation Checklist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097280"/>
          <a:ext cx="107899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API Test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Expected Result</a:t>
                      </a:r>
                    </a:p>
                  </a:txBody>
                  <a:tcPr>
                    <a:solidFill>
                      <a:srgbClr val="0F36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/medicine-service/medicines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Allowed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GET /medicine-service/medicines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/medicine-service/medicines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403 Forbidden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DELETE /medicine-service/medicines/{id}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403 Forbidden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/cart-service/cart/add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Allowed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POST /order-service/orders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PHARMACIST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Prescription APIs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Allowed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PHARMACIST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Cart / Order / Medicine write APIs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2D"/>
                          </a:solidFill>
                        </a:defRPr>
                      </a:pPr>
                      <a:r>
                        <a:t>403 Forbidden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3660"/>
                </a:solidFill>
              </a:defRPr>
            </a:pPr>
            <a:r>
              <a:t>Project Outcomes and 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80160"/>
            <a:ext cx="3017520" cy="54864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Backend microservices completed with independent responsibilities.</a:t>
            </a:r>
          </a:p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JWT-secured API Gateway implemented as the single entry point.</a:t>
            </a:r>
          </a:p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Swagger testing enabled for complete API verification.</a:t>
            </a:r>
          </a:p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Order flow integrates cart, inventory and notification services.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280160"/>
            <a:ext cx="3017520" cy="54864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Add Angular or React frontend.</a:t>
            </a:r>
          </a:p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Integrate payment gateway.</a:t>
            </a:r>
          </a:p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Add email/SMS notification providers.</a:t>
            </a:r>
          </a:p>
          <a:p>
            <a:pPr marL="342900">
              <a:spcAft>
                <a:spcPts val="800"/>
              </a:spcAft>
              <a:defRPr sz="1450">
                <a:solidFill>
                  <a:srgbClr val="2D2D2D"/>
                </a:solidFill>
              </a:defRPr>
            </a:pPr>
            <a:r>
              <a:t>Add audit logs, reporting dashboard and container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926080" y="1325880"/>
            <a:ext cx="6309360" cy="914400"/>
          </a:xfrm>
          <a:prstGeom prst="roundRect">
            <a:avLst/>
          </a:prstGeom>
          <a:solidFill>
            <a:srgbClr val="0F36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Online Pharmacy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788920"/>
            <a:ext cx="8503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A secure, scalable and Swagger-testable backend microservices solution for pharmacy operations.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4389120"/>
            <a:ext cx="3474720" cy="594360"/>
          </a:xfrm>
          <a:prstGeom prst="round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11567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6464"/>
                </a:solidFill>
              </a:defRPr>
            </a:pPr>
            <a:r>
              <a:t>Online Pharmacy Management System | Backend Microservices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